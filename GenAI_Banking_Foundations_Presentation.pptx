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FE3EA"/>
                </a:solidFill>
                <a:latin typeface="Calibri"/>
              </a:rPr>
              <a:t>A practical introduction for banking professionals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FE3EA"/>
                </a:solidFill>
                <a:latin typeface="Calibri"/>
              </a:rPr>
              <a:t>Operations · Finance · HR · Risk · Compliance · Audit · Sales &amp; Customer Service · MIS &amp;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▪ 1. What is Generative AI and an LLM?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▪ 2. Generative AI vs Traditional AI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▪ 3. LLM Capabilities and Limitations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▪ 4. AI Use Cases Across Banking Functions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▪ 5. AI Hallucination and Verification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▪ 6. Responsible AI and Banking Data Confidentiality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▪ 7. PII, Sensitive Data and Data Masking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▪ Quick Reference, Glossary &amp; 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Generative AI and an LLM?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Generative AI is a class of AI that creates new content — text, code, images, summaries — rather than only classifying or predicting from existing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Large Language Model (LLM): a neural network trained on very large volumes of text to predict the next word (token) given the words before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Because it learned patterns of language, it can draft, summarise, translate, extract, classify and answer questions in natural language.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Examples: GPT-4 / GPT-5 (OpenAI), Claude (Anthropic), Gemini (Google), Llama (Meta, open-weight), Mistral.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An LLM does not 'look things up' by default — it generates the most statistically likely response from patterns it learned.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2072579" cy="13258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2072579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88969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36592"/>
            <a:ext cx="185312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Your instruction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4099" y="4297680"/>
            <a:ext cx="2072579" cy="13258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4099" y="4297680"/>
            <a:ext cx="2072579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5539" y="4297680"/>
            <a:ext cx="188969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3827" y="4736592"/>
            <a:ext cx="185312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Unit of text (~¾ word)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9558" y="4297680"/>
            <a:ext cx="2072579" cy="13258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59558" y="4297680"/>
            <a:ext cx="2072579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0998" y="4297680"/>
            <a:ext cx="188969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Context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9286" y="4736592"/>
            <a:ext cx="185312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How much text it sees at once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017" y="4297680"/>
            <a:ext cx="2072579" cy="13258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017" y="4297680"/>
            <a:ext cx="2072579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457" y="4297680"/>
            <a:ext cx="188969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Fine-tuning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745" y="4736592"/>
            <a:ext cx="185312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Extra training on your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70476" y="4297680"/>
            <a:ext cx="2072579" cy="13258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0476" y="4297680"/>
            <a:ext cx="2072579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1916" y="4297680"/>
            <a:ext cx="188969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0204" y="4736592"/>
            <a:ext cx="185312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Answers grounded in your documents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An LLM is a very capable pattern-completion engine for language — not a database and not a reasoning oracle.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Generative AI vs Traditional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Banks have used AI for decades — credit scoring, fraud detection, AML transaction monitoring. Generative AI is different in kind.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0"/>
                <a:gridCol w="4572000"/>
              </a:tblGrid>
              <a:tr h="5094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Traditional / Predictive AI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Generative AI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Structured, labelled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Broad, unstructured text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Score, label,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New content: text, code, summaries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One narrow task per model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Many tasks via prompting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Behaviour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Deterministic, explainable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Probabilistic, varies run to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Who uses it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Data scientists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Any employee, in natural language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Bank 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Fraud model flags a 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Drafts investigator narrative &amp; customer letter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7C7B"/>
                </a:solidFill>
                <a:latin typeface="Calibri"/>
              </a:rPr>
              <a:t>Complementary: predictive models decide → generative models explain, draft and communicate.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Traditional AI predicts; Generative AI produces. Use each for what it is good 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LLM Capabilities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Knowing what an LLM does well — and where it fails — is the foundation of safe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40680" cy="41148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440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Summarising long documents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Drafting emails, memos, policies, SOPs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Extracting fields from unstructured text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Translation (English ⇄ Urdu, regional)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Writing / explaining code, SQL, Excel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Brainstorming &amp; structuring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Q&amp;A over your documents (RAG)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440680" cy="411480"/>
          </a:xfrm>
          <a:prstGeom prst="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40280"/>
            <a:ext cx="5440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No live knowledge past training cut-off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Confident falsehoods (hallucination)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Weak at precise arithmetic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No knowledge of your bank's context unless given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Inconsistent answers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Vulnerable to prompt injection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▪ May reproduce bias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Treat every output as a draft from a fast, well-read but unverified junior analyst.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Use Cases Across Banking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Generative AI adds value wherever staff spend time reading, writing, summarising or searching. Below are practical, low-risk starting points per function.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636443" cy="187452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2416987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summarise SBP circulars and internal SOPs
• draft customer correspondence
• auto-classify service requests and complaints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737360"/>
            <a:ext cx="2636443" cy="187452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03" y="17373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7691" y="2176272"/>
            <a:ext cx="2416987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draft variance commentary for management accounts
• explain movements in financial statements
• write first drafts of budget narratives and board papers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737360"/>
            <a:ext cx="2636443" cy="187452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17373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17373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7015" y="2176272"/>
            <a:ext cx="2416987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draft job descriptions, interview questions and offer letters
• summarise policy documents into employee FAQs
• HR chatbot for leave, benefits and policy 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611" y="1737360"/>
            <a:ext cx="2636443" cy="187452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611" y="17373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051" y="17373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339" y="2176272"/>
            <a:ext cx="2416987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summarise credit proposals and financial statements of borrowers
• draft credit memos and risk assessments
• scan news for adverse media on counterparties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94760"/>
            <a:ext cx="2636443" cy="187452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7947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233672"/>
            <a:ext cx="2416987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draft Suspicious Transaction Report (STR) narratives from case data
• map new regulations to internal policies (gap analysis)
• KYC document summarisation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7963" y="3794760"/>
            <a:ext cx="2636443" cy="187452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67963" y="37947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9403" y="37947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7691" y="4233672"/>
            <a:ext cx="2416987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draft audit programmes and test procedures
• summarise evidence and working papers
• generate audit findings and recommendations from notes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287" y="3794760"/>
            <a:ext cx="2636443" cy="187452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7287" y="37947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727" y="37947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Sales &amp; Customer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7015" y="4233672"/>
            <a:ext cx="2416987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24/7 customer assistants for product FAQs
• agent-assist (suggested replies, call summaries)
• personalised product explanations in customer's language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611" y="3794760"/>
            <a:ext cx="2636443" cy="187452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06611" y="3794760"/>
            <a:ext cx="2636443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051" y="3794760"/>
            <a:ext cx="24535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MIS &amp;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339" y="4233672"/>
            <a:ext cx="2416987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natural-language querying of data ('show branch-wise deposit growth this quarter')
• auto-generated report commentary
• dashboard narrative summaries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Start with internal, human-reviewed, low-risk use cases; move to customer-facing only with strong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Cases —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Practical, low-risk starting points (all with human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Summarise sbp circulars and internal sops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Draft customer correspondence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Auto-classify service requests and complaints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Generate reconciliation exception narratives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Convert process documents into checklists and faqs.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1064240" cy="4572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Risk lens: Internal &amp; reviewed = Low · Customer-facing or decision-influencing = High → needs governance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Discussion: which of these would save the most time in your team this quarter?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Cases —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Practical, low-risk starting points (all with human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Draft variance commentary for management accounts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Explain movements in financial statements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Write first drafts of budget narratives and board papers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Generate excel formulas / sql for analysis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Summarise ifrs / accounting standard updates.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1064240" cy="4572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Risk lens: Internal &amp; reviewed = Low · Customer-facing or decision-influencing = High → needs governance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Discussion: which of these would save the most time in your team this quarter?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Cases —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Practical, low-risk starting points (all with human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Draft job descriptions, interview questions and offer letters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Summarise policy documents into employee faqs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Hr chatbot for leave, benefits and policy queries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Personalise training content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Analyse engagement survey free-text comments.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1064240" cy="4572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Risk lens: Internal &amp; reviewed = Low · Customer-facing or decision-influencing = High → needs governance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Discussion: which of these would save the most time in your team this quarter?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Cases —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Practical, low-risk starting points (all with human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Summarise credit proposals and financial statements of borrowers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Draft credit memos and risk assessments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Scan news for adverse media on counterparties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Explain model outputs in plain language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Draft risk committee minutes and papers.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1064240" cy="4572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Risk lens: Internal &amp; reviewed = Low · Customer-facing or decision-influencing = High → needs governance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Discussion: which of these would save the most time in your team this quarter?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Cases —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Practical, low-risk starting points (all with human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Draft suspicious transaction report (str) narratives from case data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Map new regulations to internal policies (gap analysis)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Kyc document summarisation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Screening alert triage support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Regulatory change tracking and summaries.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1064240" cy="4572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Risk lens: Internal &amp; reviewed = Low · Customer-facing or decision-influencing = High → needs governance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Discussion: which of these would save the most time in your team this quarter?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Cases —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Practical, low-risk starting points (all with human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Draft audit programmes and test procedures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Summarise evidence and working papers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Generate audit findings and recommendations from notes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Analyse policy vs practice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Prepare audit committee reporting drafts.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1064240" cy="4572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Risk lens: Internal &amp; reviewed = Low · Customer-facing or decision-influencing = High → needs governance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Discussion: which of these would save the most time in your team this quarter?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Cases — Sales &amp; Customer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Practical, low-risk starting points (all with human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24/7 customer assistants for product faqs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Agent-assist (suggested replies, call summaries)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Personalised product explanations in customer's language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Complaint response drafting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Sales pitch and rm briefing notes.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1064240" cy="4572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Risk lens: Internal &amp; reviewed = Low · Customer-facing or decision-influencing = High → needs governance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Discussion: which of these would save the most time in your team this quarter?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Cases — MIS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Practical, low-risk starting points (all with human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Natural-language querying of data ('show branch-wise deposit growth this quarter')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Auto-generated report commentary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Dashboard narrative summaries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Data dictionary and metadata documentation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▪ Converting business questions into sql.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1064240" cy="4572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Risk lens: Internal &amp; reviewed = Low · Customer-facing or decision-influencing = High → needs governance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Discussion: which of these would save the most time in your team this quarter?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 hallucination is a fluent, confident output that is factually wrong, fabricated or unsupported — the single biggest risk of using LLMs in banking.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E7C7B"/>
                </a:solidFill>
              </a:rPr>
              <a:t>▪ Why: </a:t>
            </a:r>
            <a:r>
              <a:rPr sz="1700">
                <a:solidFill>
                  <a:srgbClr val="222222"/>
                </a:solidFill>
              </a:rPr>
              <a:t>the model optimises for plausible text, not truth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E7C7B"/>
                </a:solidFill>
              </a:rPr>
              <a:t>▪ Banking examples: </a:t>
            </a:r>
            <a:r>
              <a:rPr sz="1700">
                <a:solidFill>
                  <a:srgbClr val="222222"/>
                </a:solidFill>
              </a:rPr>
              <a:t>invented circular numbers, wrong rates or dates, fabricated case law, incorrect product terms, wrong totals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E7C7B"/>
                </a:solidFill>
              </a:rPr>
              <a:t>▪ Warning signs: </a:t>
            </a:r>
            <a:r>
              <a:rPr sz="1700">
                <a:solidFill>
                  <a:srgbClr val="222222"/>
                </a:solidFill>
              </a:rPr>
              <a:t>untraceable specifics; never says 'I don't know'; details that are too convenient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E7C7B"/>
                </a:solidFill>
              </a:rPr>
              <a:t>▪ Accountability: </a:t>
            </a:r>
            <a:r>
              <a:rPr sz="1700">
                <a:solidFill>
                  <a:srgbClr val="222222"/>
                </a:solidFill>
              </a:rPr>
              <a:t>the person who uses the output owns it — 'the AI said so' is never a defence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Trust, but verify — and for regulations, numbers and legal points: verify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Verification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Build these into every workflow that uses an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 · 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Never publish without qualified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7738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 · Ask for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7466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Request the passage and check it yourself.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6836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 · Ground with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6564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Answer only from approved bank documents.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4 · Cross-check 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Numbers, dates, names, regulatory refs vs original.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7738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07738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9178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5 · Prompt for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466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'If unsure, say so.'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6836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6836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8276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6 · 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564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Ask twice / two models; recompute calculations.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Trust, but verify — and for regulations, numbers and legal points: verify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Responsible AI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Banks operate under strict confidentiality duties (banking secrecy, SBP guidelines, data protection law, contractual NDAs). Responsible AI turns these into day-to-day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No discriminatory outcomes in credit, hiring,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7738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7466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Disclose AI use; explainable outputs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6836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6564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Named owner for every AI use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Privacy &amp;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Protect customer and bank data end-to-end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7738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07738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9178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Human oversight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466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People decide; AI assists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6836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6836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8276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Robustness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564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Test, monitor, and handle failures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Regulators (SBP, EU AI Act, BCBS, MAS) expect AI to be governed like any other material model.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Banking Data Confidentiality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Public AI tools may store, log or train on your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40680" cy="411480"/>
          </a:xfrm>
          <a:prstGeom prst="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NEVER in unapproved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440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Customer data, account numbers, CNICs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Transaction data, credit files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Internal strategy, unpublished financials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Source code, passwords, board papers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440680" cy="41148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Governance that must be in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40280"/>
            <a:ext cx="5440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Approved enterprise AI platform (no-training clause, data residency, logging)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AI use-case inventory &amp; risk tiering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Model risk management extended to GenAI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Vendor due diligence &amp; audit trails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Incident reporting for misuse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If you would not email it outside the bank, do not paste it into an AI tool that is not bank-approved.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PII and Sensitive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Personally Identifiable Information (PII) is any data that can identify a person, directly or in combination. In banking almost everything customers give us qualifies.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76218" cy="27432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Direct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3356762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Name, CNIC/NICOP/passport, DOB, phone, email, address, account/IBAN, card number (PAN), biometrics, photos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737360"/>
            <a:ext cx="3576218" cy="27432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7738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Sensitive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7466" y="2176272"/>
            <a:ext cx="3356762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Income &amp; salary, credit history &amp; scores, transaction history, health data, religion, political views, credentials, PINs, OTPs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1737360"/>
            <a:ext cx="3576218" cy="27432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6836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Quasi-identifiers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6564" y="2176272"/>
            <a:ext cx="3356762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Branch + opening date + occupation can re-identify a person. Masking one field is not enough.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In banking, almost everything a customer gives us is PII. Ask first: do I need the identity at all? Usually, no.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Mask by default. The model does not need to know who the customer is to help you write well.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Masking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Hide or replace sensitive values while keeping the data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Redaction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Remove entirely
CNIC: [REDACTED]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7738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Pseudonymisation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7466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Replace with token
Ahmed Khan → Customer_A47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173736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6836" y="173736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173736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Partial masking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6564" y="217627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Show only part
4210-****-****-1234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Generalisation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Reduce precision
Age 34 → 30–39; salary → band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7738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07738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9178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Tokenisation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7466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Reversible only via secure vault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6836" y="3749040"/>
            <a:ext cx="3576218" cy="182880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6836" y="3749040"/>
            <a:ext cx="3576218" cy="38404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8276" y="3749040"/>
            <a:ext cx="339333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Synthetic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564" y="4187952"/>
            <a:ext cx="335676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Fully artificial datasets for testing / training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Workflow: need identity? → strip / mask → use aggregates or synthetic → approved tool with PII detection → never re-identify outside.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Unsafe vs Safe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Same task, very different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40680" cy="38404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40680" cy="457200"/>
          </a:xfrm>
          <a:prstGeom prst="round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✘ Unsafe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4983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"Draft a letter to Ahmed Khan, CNIC 42101-1234567-1, account PK36HABB0001234567890, about his overdue loan of Rs 2.4M."
Exposes name, CNIC, IBAN and financial position to a third party.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40680" cy="3840480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440680" cy="457200"/>
          </a:xfrm>
          <a:prstGeom prst="round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✔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4983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"Draft a polite overdue-loan reminder letter template with placeholders for [Customer Name], [Account No] and [Amount]."
Model gets the task, not the identity. Merge real data inside the bank's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Mask by default. The model does not need to know who the customer is to help you write well.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Do's and Don'ts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Quick reference for daily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40680" cy="411480"/>
          </a:xfrm>
          <a:prstGeom prst="rect">
            <a:avLst/>
          </a:prstGeom>
          <a:solidFill>
            <a:srgbClr val="1E7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✔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440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Use bank-approved AI tools only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Mask or remove PII before prompting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Verify every fact, figure and regulation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Keep a human reviewer for every output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Give clear context and ask for sources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Report misuse or data leaks immediately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440680" cy="411480"/>
          </a:xfrm>
          <a:prstGeom prst="rect">
            <a:avLst/>
          </a:prstGeom>
          <a:solidFill>
            <a:srgbClr val="A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✘ DON'T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40280"/>
            <a:ext cx="5440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Paste customer or confidential data into public chatbots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Treat AI output as final or authoritative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Use AI for credit, HR or pricing decisions without governance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Share prompts/outputs containing PII over email or chat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Assume the model knows current SBP regulations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▪ Rely on AI for arithmetic without recomputing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If you would not email it outside the bank, do not paste it into an AI tool that is not bank-approved.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Summary — Five Things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▪ An LLM is a language pattern engine — brilliant at drafting, unreliable as a source of truth.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▪ GenAI complements, not replaces, the predictive models banks already run.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▪ Every function has low-risk, high-value use cases — start internal, keep a human in the loop.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▪ Hallucinations are normal; verification is your job, and you own the output.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▪ Mask PII by default and use only bank-approved tools — confidentiality is non-negotiable.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064240" cy="56692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400">
                <a:solidFill>
                  <a:srgbClr val="0B2E4F"/>
                </a:solidFill>
              </a:rPr>
              <a:t>Key takeaway: </a:t>
            </a:r>
            <a:r>
              <a:rPr sz="1400">
                <a:solidFill>
                  <a:srgbClr val="222222"/>
                </a:solidFill>
              </a:rPr>
              <a:t>Next step: pick one use case for your team and run it through the verification checklist.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Work in pairs — 15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Generative AI for Banking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Exercise 1: Identify three tasks in your own role where GenAI could save time. Rate each Low / Medium / High risk and explain why.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Exercise 2: Rewrite this unsafe prompt as a safe one: 'Summarise the credit file of Ms. Sana Malik, CNIC 35202-9876543-2, income Rs 350,000/month, for the credit committee.'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Exercise 3: An LLM tells you 'SBP BPRD Circular No. 07 of 2024 requires X'. List the steps you would take before relying on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▪ Exercise 4: Mask the following record using at least three techniques: Name: Bilal Ahmed | DOB: 12-03-1985 | Card: 5123 4567 8901 2345 | Salary: Rs 180,000 | Branch: Clifton.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CFE3E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